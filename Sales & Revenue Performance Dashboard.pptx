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DD10D-3223-46AF-A960-7CD45BA3F38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5E269-F463-4F50-868C-B690BEC98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19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ABA1-C725-267B-4983-082A7AD6B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A328B-EA89-10F1-AA03-FE5433096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E051-9A1D-D11E-06D9-0982CF42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28471-9798-0A0A-E9C7-5186302B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1C50A-D98A-CEEF-4B84-5CD5AA60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7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EB97-58E4-6DE6-1198-A0176BF4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804A-1724-3461-623A-8A42983B1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827B-820A-1703-392C-40ACB145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CB9AD-355E-E96F-74C2-2C9CD0E0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2580-8468-DC08-831C-0D9D6CE1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A66D-AF88-0693-1DEF-9D8F5986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9AB5A-F61E-1127-991C-147F5EE98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419F-26CF-4B1E-FA95-015D7F2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CF0BD-C0B1-C3D9-35E7-160D42CD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D9620-488C-5CD7-84A3-DA193C33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582A-2B2B-7B66-B172-E7D97BB6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4AB3-1A82-A544-D9C8-EB33EC40B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2CBB7-EFB3-8E22-184C-8E63AA1A5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FFB27-16A7-39B1-D803-82448C0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2AD97-9C1E-4806-2805-E281D38B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0B500-465E-5339-4A8C-2A2662C6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5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E570-EAA2-7357-9FEA-C10BDF3F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3B459-93C6-E68E-B204-5F22FA995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84BD4-0C14-8422-1AF2-A18738D44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049EE-9C35-C59C-26F0-16391E981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4AE28-F0B1-68ED-9D48-A0CE6E036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7BC0C-E691-936C-C7A6-FB966F1D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7D6C8-5F34-C384-8A98-5C3B65E7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095DE-5C28-1B4E-3CBD-A3427881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D755-3DE6-4C3F-0D51-135180B0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D5107-F11E-C907-E63D-381550B5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BF0B2-6489-7448-75FD-4FC44D78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33AF1-65E4-E5CE-6DD3-C885A0BD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7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F8243-2BB0-128F-E9CE-39424153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A2E4C-B67A-9F8C-B28B-26206179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C5EEF-D76A-F68D-5899-2517F533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12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4CD3-0B72-B8AE-EB0E-BDE4F4CF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58C4B-9EDA-2C48-CF4E-0395F81F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085C2-EAA3-B37C-E512-EBD61D90C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ADFD5-91DC-E40B-10C2-84D85AD4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944DD-90C0-BEE7-B486-0FBC904B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3D98C-52BF-E6B8-745E-DD47EB6B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8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271B-33D9-FAA9-638F-C8D07340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CD1B8-13BE-4BB5-9995-4A4E31A4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90CFA-9FC8-9C80-02C9-003296AE5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DA9E2-DBDB-48F8-3D2A-17C3E3F1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EA310-665B-4010-D11F-FBBDB944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48441-8587-8E1F-D8C2-0E399676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91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09B8-DEFF-1772-3BFF-23AE035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4DC64-FDF8-2DC4-1807-45CB6FFC9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5E27-81FF-05F9-0D2E-5E3354B7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F0F32-7049-4995-B408-B55EDD7F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E43A8-FCC2-C4FC-53BC-1D9CF665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9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BC6C0-6EC4-795A-0DD0-D89EE430F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3016B-4142-F3E0-B42C-EEF586010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37F62-2AB8-658C-4B97-769B4EEB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0D18A-947D-9E85-39F3-7E1CAA43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591E2-E23D-8ABD-8273-6B8D4D24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90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FFF91-D321-C613-B382-3B79C666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C8DBD-1E12-F00B-92FB-B15B92C14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2E2E9-7992-3A39-07E3-A0BD26B15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12ED-A5DE-FAFC-4C39-F584EA6CB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ED65C-6C4D-6437-F9B7-21FC29A4A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EA19A-CEE0-4188-A6CF-88A0FC797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34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F9C8-6F02-93A4-2861-0C7E4BE1A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Sales &amp; Revenue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7B65D-00CB-A00B-0A66-030CFDCF79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Ecom Express Data Analysis using Power BI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50B97-E5CE-0B68-5527-FCB228046C9E}"/>
              </a:ext>
            </a:extLst>
          </p:cNvPr>
          <p:cNvSpPr txBox="1"/>
          <p:nvPr/>
        </p:nvSpPr>
        <p:spPr>
          <a:xfrm>
            <a:off x="8501743" y="5584371"/>
            <a:ext cx="338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Prepared by:</a:t>
            </a:r>
            <a:b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Jibin K B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29F1-17A7-2126-599F-B7AD7842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46D5D-85F2-AB96-5796-188A6F58B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48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Presentation Outline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Project Objective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Dataset Overview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Cleaning &amp; Transformation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Model (Relationship View)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Created (DAX)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 Overview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Insights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 Features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</a:p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Future Enhancements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33E61-3CE8-6B32-67EF-5DB49C8B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11B9-0092-2FD8-0666-A9480CF8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C82C0-21C5-FCE5-06EE-478FD84C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88B6-67EC-1DCB-76BE-3C4EC140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37601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B3E837-A30B-0D3D-919A-1B2D251FF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4" y="1559770"/>
            <a:ext cx="10036629" cy="373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performance and revenue trends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Identify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products and categories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Understand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distribution across states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Measure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of order cancellations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interactive dashboards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/>
              <a:t>This dashboard helps stakeholders make </a:t>
            </a:r>
            <a:r>
              <a:rPr lang="en-GB" sz="2000" b="1" dirty="0"/>
              <a:t>data-driven business decisions</a:t>
            </a:r>
            <a:r>
              <a:rPr lang="en-GB" sz="2000" dirty="0"/>
              <a:t> efficiently.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0E5BE-6CB6-D75B-EF7E-92010BFF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ED79-4B77-78D0-1955-B7DB2D4B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B822E-F256-759A-A634-697B6625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09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772C-90DC-B730-B243-139EFC76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B0B5-0421-27B3-5D63-830B57D3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project uses three core datasets of </a:t>
            </a:r>
            <a:r>
              <a:rPr lang="en-IN" dirty="0"/>
              <a:t>Ecom Express</a:t>
            </a:r>
            <a:r>
              <a:rPr lang="en-GB" dirty="0"/>
              <a:t>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DC94E-5039-966C-D856-2503309D464C}"/>
              </a:ext>
            </a:extLst>
          </p:cNvPr>
          <p:cNvSpPr txBox="1"/>
          <p:nvPr/>
        </p:nvSpPr>
        <p:spPr>
          <a:xfrm>
            <a:off x="1077685" y="2477294"/>
            <a:ext cx="30262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Customers Table</a:t>
            </a:r>
          </a:p>
          <a:p>
            <a:endParaRPr lang="en-GB" b="1" dirty="0"/>
          </a:p>
          <a:p>
            <a:r>
              <a:rPr lang="en-GB" dirty="0" err="1"/>
              <a:t>CustomerID</a:t>
            </a:r>
            <a:endParaRPr lang="en-GB" dirty="0"/>
          </a:p>
          <a:p>
            <a:r>
              <a:rPr lang="en-GB" dirty="0"/>
              <a:t>Full Name</a:t>
            </a:r>
          </a:p>
          <a:p>
            <a:r>
              <a:rPr lang="en-GB" dirty="0"/>
              <a:t>Phone</a:t>
            </a:r>
          </a:p>
          <a:p>
            <a:r>
              <a:rPr lang="en-GB" dirty="0"/>
              <a:t>City</a:t>
            </a:r>
          </a:p>
          <a:p>
            <a:r>
              <a:rPr lang="en-GB" dirty="0"/>
              <a:t>State</a:t>
            </a:r>
          </a:p>
          <a:p>
            <a:r>
              <a:rPr lang="en-GB" dirty="0"/>
              <a:t>OS (Android / iOS)</a:t>
            </a:r>
          </a:p>
          <a:p>
            <a:r>
              <a:rPr lang="en-GB" dirty="0"/>
              <a:t>Phone 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B3AE9-0FC2-58D6-92E4-D009E32F9A7D}"/>
              </a:ext>
            </a:extLst>
          </p:cNvPr>
          <p:cNvSpPr txBox="1"/>
          <p:nvPr/>
        </p:nvSpPr>
        <p:spPr>
          <a:xfrm>
            <a:off x="4103914" y="2477294"/>
            <a:ext cx="30262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Products Table</a:t>
            </a:r>
          </a:p>
          <a:p>
            <a:endParaRPr lang="en-GB" b="1" dirty="0"/>
          </a:p>
          <a:p>
            <a:r>
              <a:rPr lang="en-GB" dirty="0" err="1"/>
              <a:t>ProductID</a:t>
            </a:r>
            <a:endParaRPr lang="en-GB" dirty="0"/>
          </a:p>
          <a:p>
            <a:r>
              <a:rPr lang="en-GB" dirty="0"/>
              <a:t>Product Name</a:t>
            </a:r>
          </a:p>
          <a:p>
            <a:r>
              <a:rPr lang="en-GB" dirty="0"/>
              <a:t>Category</a:t>
            </a:r>
          </a:p>
          <a:p>
            <a:r>
              <a:rPr lang="en-GB" dirty="0"/>
              <a:t>Price</a:t>
            </a:r>
          </a:p>
          <a:p>
            <a:r>
              <a:rPr lang="en-GB" dirty="0"/>
              <a:t>Rating</a:t>
            </a:r>
          </a:p>
          <a:p>
            <a:r>
              <a:rPr lang="en-GB" dirty="0"/>
              <a:t>Number of people who rated the product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D5FCC-4A84-6813-758C-39FDBECF482C}"/>
              </a:ext>
            </a:extLst>
          </p:cNvPr>
          <p:cNvSpPr txBox="1"/>
          <p:nvPr/>
        </p:nvSpPr>
        <p:spPr>
          <a:xfrm>
            <a:off x="7445829" y="2477293"/>
            <a:ext cx="30262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Orders Table</a:t>
            </a:r>
          </a:p>
          <a:p>
            <a:endParaRPr lang="en-GB" b="1" dirty="0"/>
          </a:p>
          <a:p>
            <a:r>
              <a:rPr lang="en-GB" dirty="0" err="1"/>
              <a:t>OrderID</a:t>
            </a:r>
            <a:endParaRPr lang="en-GB" dirty="0"/>
          </a:p>
          <a:p>
            <a:r>
              <a:rPr lang="en-GB" dirty="0" err="1"/>
              <a:t>CustomerID</a:t>
            </a:r>
            <a:endParaRPr lang="en-GB" dirty="0"/>
          </a:p>
          <a:p>
            <a:r>
              <a:rPr lang="en-GB" dirty="0" err="1"/>
              <a:t>ProductID</a:t>
            </a:r>
            <a:endParaRPr lang="en-GB" dirty="0"/>
          </a:p>
          <a:p>
            <a:r>
              <a:rPr lang="en-GB" dirty="0"/>
              <a:t>Quantity</a:t>
            </a:r>
          </a:p>
          <a:p>
            <a:r>
              <a:rPr lang="en-GB" dirty="0"/>
              <a:t>Date &amp; Time of Purchase</a:t>
            </a:r>
          </a:p>
          <a:p>
            <a:r>
              <a:rPr lang="en-GB" dirty="0"/>
              <a:t>Delivery Status</a:t>
            </a:r>
          </a:p>
          <a:p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8FBB185-0B2F-3C8F-F57C-AEBB7E1B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443C644-8780-47B8-3F19-AD0E23DC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594770-598E-3B22-36A7-78047D9B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1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BB8B-EE44-5205-037C-63B87B9D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DB5D1-1A88-2407-5B94-4D0BF80C1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Customer Table</a:t>
            </a:r>
          </a:p>
          <a:p>
            <a:r>
              <a:rPr lang="en-GB" sz="2000" dirty="0"/>
              <a:t>Combined first name and last name → </a:t>
            </a:r>
            <a:r>
              <a:rPr lang="en-GB" sz="2000" b="1" dirty="0"/>
              <a:t>Full Name</a:t>
            </a:r>
            <a:endParaRPr lang="en-GB" sz="2000" dirty="0"/>
          </a:p>
          <a:p>
            <a:r>
              <a:rPr lang="en-GB" sz="2000" dirty="0"/>
              <a:t>Standardized </a:t>
            </a:r>
            <a:r>
              <a:rPr lang="en-GB" sz="2000" b="1" dirty="0"/>
              <a:t>city names</a:t>
            </a:r>
            <a:r>
              <a:rPr lang="en-GB" sz="2000" dirty="0"/>
              <a:t> (capitalized)</a:t>
            </a:r>
          </a:p>
          <a:p>
            <a:r>
              <a:rPr lang="en-GB" sz="2000" dirty="0"/>
              <a:t>Classified </a:t>
            </a:r>
            <a:r>
              <a:rPr lang="en-GB" sz="2000" b="1" dirty="0"/>
              <a:t>OS type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Apple → iOS</a:t>
            </a:r>
          </a:p>
          <a:p>
            <a:pPr lvl="1"/>
            <a:r>
              <a:rPr lang="en-GB" sz="2000" dirty="0"/>
              <a:t>Others → Android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28A89-9C62-965B-54E5-6ECAE147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D2E3-98F8-EF6A-2CD9-3A88C9D7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03D1B-20BB-B92F-599D-BC7965B7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2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2221-015B-481E-A637-98C0F97C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DB7D-7705-7F71-9F5E-C56ACA8A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BD943-08B6-0473-85B0-24EF8EBB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Product Table</a:t>
            </a:r>
          </a:p>
          <a:p>
            <a:r>
              <a:rPr lang="en-GB" sz="2000" dirty="0"/>
              <a:t>Converted </a:t>
            </a:r>
            <a:r>
              <a:rPr lang="en-GB" sz="2000" b="1" dirty="0"/>
              <a:t>Price</a:t>
            </a:r>
            <a:r>
              <a:rPr lang="en-GB" sz="2000" dirty="0"/>
              <a:t> to fixed decimal format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Data </a:t>
            </a:r>
            <a:r>
              <a:rPr lang="en-GB" sz="2000" b="1" dirty="0" err="1"/>
              <a:t>Modeling</a:t>
            </a:r>
            <a:endParaRPr lang="en-GB" sz="2000" b="1" dirty="0"/>
          </a:p>
          <a:p>
            <a:r>
              <a:rPr lang="en-GB" sz="2000" dirty="0"/>
              <a:t>Created relationships:</a:t>
            </a:r>
          </a:p>
          <a:p>
            <a:pPr lvl="1"/>
            <a:r>
              <a:rPr lang="en-GB" sz="2000" b="1" dirty="0"/>
              <a:t>Products → Orders</a:t>
            </a:r>
            <a:r>
              <a:rPr lang="en-GB" sz="2000" dirty="0"/>
              <a:t> (</a:t>
            </a:r>
            <a:r>
              <a:rPr lang="en-GB" sz="2000" dirty="0" err="1"/>
              <a:t>ProductID</a:t>
            </a:r>
            <a:r>
              <a:rPr lang="en-GB" sz="2000" dirty="0"/>
              <a:t>)</a:t>
            </a:r>
          </a:p>
          <a:p>
            <a:pPr lvl="1"/>
            <a:r>
              <a:rPr lang="en-GB" sz="2000" b="1" dirty="0"/>
              <a:t>Customers → Orders</a:t>
            </a:r>
            <a:r>
              <a:rPr lang="en-GB" sz="2000" dirty="0"/>
              <a:t> (</a:t>
            </a:r>
            <a:r>
              <a:rPr lang="en-GB" sz="2000" dirty="0" err="1"/>
              <a:t>CustomerID</a:t>
            </a:r>
            <a:r>
              <a:rPr lang="en-GB" sz="2000" dirty="0"/>
              <a:t>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6087-4A47-30D1-7533-DB14980B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3BFD-4037-580B-41E8-4F498EFC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E71A-CD54-1131-EE6D-FCDCA3BE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06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A994-817C-49C8-FA9B-CE82A2D5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B9C80C-81AC-3DC5-6F5F-83A34AE1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Model Design</a:t>
            </a:r>
          </a:p>
          <a:p>
            <a:r>
              <a:rPr lang="en-GB" sz="2000" dirty="0"/>
              <a:t>Star schema structure</a:t>
            </a:r>
          </a:p>
          <a:p>
            <a:r>
              <a:rPr lang="en-GB" sz="2000" dirty="0"/>
              <a:t>Orders as </a:t>
            </a:r>
            <a:r>
              <a:rPr lang="en-GB" sz="2000" b="1" dirty="0"/>
              <a:t>fact table</a:t>
            </a:r>
            <a:endParaRPr lang="en-GB" sz="2000" dirty="0"/>
          </a:p>
          <a:p>
            <a:r>
              <a:rPr lang="en-GB" sz="2000" dirty="0"/>
              <a:t>Customers and Products as </a:t>
            </a:r>
            <a:r>
              <a:rPr lang="en-GB" sz="2000" b="1" dirty="0"/>
              <a:t>dimension tables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Benefits</a:t>
            </a:r>
          </a:p>
          <a:p>
            <a:r>
              <a:rPr lang="en-GB" sz="2000" dirty="0"/>
              <a:t>Improved query performance</a:t>
            </a:r>
          </a:p>
          <a:p>
            <a:r>
              <a:rPr lang="en-GB" sz="2000" dirty="0"/>
              <a:t>Accurate filtering</a:t>
            </a:r>
          </a:p>
          <a:p>
            <a:r>
              <a:rPr lang="en-GB" sz="2000" dirty="0"/>
              <a:t>Better analytical clarity</a:t>
            </a:r>
          </a:p>
          <a:p>
            <a:endParaRPr lang="en-IN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506C04F-1422-5F43-C742-92475FB9D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8257B68-00DF-0113-4B44-22C9FB43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82CAE86-E77E-570D-0C76-21570C14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6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1E0A-4051-8BE6-5C0C-9FB5283F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CFF9-4769-C290-9208-86800AFB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6ABE1C-F5B7-C773-121B-29716FE06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t="-487" r="24369" b="29689"/>
          <a:stretch>
            <a:fillRect/>
          </a:stretch>
        </p:blipFill>
        <p:spPr>
          <a:xfrm>
            <a:off x="740228" y="1915885"/>
            <a:ext cx="10515600" cy="32766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8F4AC-093E-C08E-3FC4-FEA27078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AB03F-7019-4E94-9FCC-B9037236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F4A30-0B4F-941F-DBB4-94DCB0A9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55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0C84-C13B-29F8-008E-F076DE9E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Created (DAX)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635D-9E4F-CF99-1ADB-0A2474660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1543" cy="4351338"/>
          </a:xfrm>
        </p:spPr>
        <p:txBody>
          <a:bodyPr>
            <a:normAutofit/>
          </a:bodyPr>
          <a:lstStyle/>
          <a:p>
            <a:r>
              <a:rPr lang="en-IN" sz="2000" dirty="0"/>
              <a:t>Sales</a:t>
            </a:r>
          </a:p>
          <a:p>
            <a:pPr marL="0" indent="0">
              <a:buNone/>
            </a:pPr>
            <a:r>
              <a:rPr lang="en-GB" sz="2000" dirty="0"/>
              <a:t>Sales = SUMX(Orders, Orders[Quantity] * RELATED(Products[Price]))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Lost Revenue Due to Cancellation</a:t>
            </a:r>
          </a:p>
          <a:p>
            <a:pPr marL="0" indent="0">
              <a:buNone/>
            </a:pPr>
            <a:r>
              <a:rPr lang="en-GB" sz="2000" dirty="0" err="1"/>
              <a:t>Lost_rev_cancellation</a:t>
            </a:r>
            <a:r>
              <a:rPr lang="en-GB" sz="2000" dirty="0"/>
              <a:t> =</a:t>
            </a:r>
          </a:p>
          <a:p>
            <a:pPr marL="0" indent="0">
              <a:buNone/>
            </a:pPr>
            <a:r>
              <a:rPr lang="en-GB" sz="2000" dirty="0"/>
              <a:t>CALCULATE([Sales], Orders[Delivery Status] = "Cancelled")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IN" sz="2000" dirty="0"/>
              <a:t>Revenue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Revenue = [Sales] - [</a:t>
            </a:r>
            <a:r>
              <a:rPr lang="en-GB" sz="2000" dirty="0" err="1"/>
              <a:t>Lost_rev_cancellation</a:t>
            </a:r>
            <a:r>
              <a:rPr lang="en-GB" sz="2000" dirty="0"/>
              <a:t>]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6ECE-BC16-D605-EB1B-0F9943AB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BD275-1F54-A10C-37D4-72393582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5799-A165-FB05-2280-F5B39FFE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70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E914-9EC6-3308-0443-76D5B153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7A7ED-0659-C5CA-0F07-0A5B551D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Created (DAX)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D1F2-D800-0DA5-EAD1-E24FD6CAD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1543" cy="4351338"/>
          </a:xfrm>
        </p:spPr>
        <p:txBody>
          <a:bodyPr>
            <a:normAutofit/>
          </a:bodyPr>
          <a:lstStyle/>
          <a:p>
            <a:r>
              <a:rPr lang="en-IN" sz="2000" dirty="0"/>
              <a:t>Cancellation Rate</a:t>
            </a:r>
          </a:p>
          <a:p>
            <a:pPr marL="0" indent="0">
              <a:buNone/>
            </a:pPr>
            <a:r>
              <a:rPr lang="en-GB" sz="2000" dirty="0"/>
              <a:t>Cancellation rate =</a:t>
            </a:r>
          </a:p>
          <a:p>
            <a:pPr marL="0" indent="0">
              <a:buNone/>
            </a:pPr>
            <a:r>
              <a:rPr lang="en-GB" sz="2000" dirty="0"/>
              <a:t>DIVIDE(</a:t>
            </a:r>
          </a:p>
          <a:p>
            <a:pPr marL="0" indent="0">
              <a:buNone/>
            </a:pPr>
            <a:r>
              <a:rPr lang="en-GB" sz="2000" dirty="0"/>
              <a:t>   CALCULATE(COUNTROWS(Orders), Orders[Delivery Status] = "Cancelled"),</a:t>
            </a:r>
          </a:p>
          <a:p>
            <a:pPr marL="0" indent="0">
              <a:buNone/>
            </a:pPr>
            <a:r>
              <a:rPr lang="en-GB" sz="2000" dirty="0"/>
              <a:t>    COUNTROWS(Orders)</a:t>
            </a:r>
          </a:p>
          <a:p>
            <a:pPr marL="0" indent="0">
              <a:buNone/>
            </a:pPr>
            <a:r>
              <a:rPr lang="en-GB" dirty="0"/>
              <a:t>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0BD23-308B-8B5F-5E3C-D8479267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01EC-B637-99E6-819C-46D33233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04DA2-9099-3893-80EA-B001FC6B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97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F7C2-316C-864C-0D0F-E5EA4178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5C234-CF49-7E2D-9D1F-6955C5345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5075"/>
            <a:ext cx="10722429" cy="5257800"/>
          </a:xfrm>
          <a:prstGeom prst="rect">
            <a:avLst/>
          </a:prstGeom>
          <a:effectLst/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D99284-B9B5-9156-FFEB-FFF777A2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EBDBDA-066F-F3F4-D996-9B5B5EB7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8DC4FC-B30F-F603-ABC9-55FABCCB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54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3EB8-BB50-FE68-8026-FB043ED8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724F-5BF2-9934-3381-06325F18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BC5BD-FB94-B50D-C0E4-4DA2611BA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Dashboard Includes:</a:t>
            </a:r>
          </a:p>
          <a:p>
            <a:r>
              <a:rPr lang="en-GB" dirty="0"/>
              <a:t> Cards:</a:t>
            </a:r>
          </a:p>
          <a:p>
            <a:pPr lvl="1"/>
            <a:r>
              <a:rPr lang="en-GB" dirty="0"/>
              <a:t>Sales</a:t>
            </a:r>
          </a:p>
          <a:p>
            <a:pPr lvl="1"/>
            <a:r>
              <a:rPr lang="en-GB" dirty="0"/>
              <a:t>Revenue</a:t>
            </a:r>
          </a:p>
          <a:p>
            <a:pPr lvl="1"/>
            <a:r>
              <a:rPr lang="en-GB" dirty="0"/>
              <a:t>Lost Revenue</a:t>
            </a:r>
          </a:p>
          <a:p>
            <a:pPr lvl="1"/>
            <a:r>
              <a:rPr lang="en-GB" dirty="0"/>
              <a:t>Cancellation Rate</a:t>
            </a:r>
          </a:p>
          <a:p>
            <a:r>
              <a:rPr lang="en-GB" dirty="0"/>
              <a:t>Revenue analysis by:</a:t>
            </a:r>
          </a:p>
          <a:p>
            <a:pPr lvl="1"/>
            <a:r>
              <a:rPr lang="en-GB" dirty="0"/>
              <a:t>State</a:t>
            </a:r>
          </a:p>
          <a:p>
            <a:pPr lvl="1"/>
            <a:r>
              <a:rPr lang="en-GB" dirty="0"/>
              <a:t>Category</a:t>
            </a:r>
          </a:p>
          <a:p>
            <a:pPr lvl="1"/>
            <a:r>
              <a:rPr lang="en-GB" dirty="0"/>
              <a:t>Product</a:t>
            </a:r>
          </a:p>
          <a:p>
            <a:r>
              <a:rPr lang="en-GB" dirty="0"/>
              <a:t>Monthly revenue trend</a:t>
            </a:r>
          </a:p>
          <a:p>
            <a:r>
              <a:rPr lang="en-GB" dirty="0"/>
              <a:t>Category-based slicer for filtering</a:t>
            </a:r>
          </a:p>
          <a:p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AB13A-9760-735C-DEE4-A29DCDA2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C40918B-F1EF-EFD2-4CD6-9AD32B86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BEBF8-BAAD-BFFF-8327-6317500C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27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4471-28C9-B0B0-5161-5788D7BD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9C655-43B9-3478-D95F-B9CC3382F9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572" y="1294582"/>
            <a:ext cx="8937172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Laptop and Mobile categories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the highest revenue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Top-performing states: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Maharashtra, Gujarat, Rajasthan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Cancellation rate (~30%)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impacts revenue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Revenue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variation across months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High-value products generate more revenue despite fewer orders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8BEFB-22E8-F057-7A70-FC35852D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EBBEF-15AB-0B31-CA3A-EBCC8741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923F4-7490-8FA5-FA68-5B9E55FD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18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EFED-8EB9-5A60-A5F1-62B22D84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38ED-3EF4-0222-C77F-412ABDA38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Interactive Capabilities</a:t>
            </a:r>
          </a:p>
          <a:p>
            <a:r>
              <a:rPr lang="en-GB" sz="2000" dirty="0"/>
              <a:t>Dynamic filtering using category slicers</a:t>
            </a:r>
          </a:p>
          <a:p>
            <a:r>
              <a:rPr lang="en-GB" sz="2000" dirty="0"/>
              <a:t>Real-time card updates</a:t>
            </a:r>
          </a:p>
          <a:p>
            <a:r>
              <a:rPr lang="en-GB" sz="2000" dirty="0"/>
              <a:t>Drill-down across products and regions</a:t>
            </a:r>
          </a:p>
          <a:p>
            <a:r>
              <a:rPr lang="en-GB" sz="2000" dirty="0"/>
              <a:t>Clear and user-friendly visualization design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68891-343F-74D0-28EA-CBAC7EC8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F02FB-3372-5828-F72F-C85FAFB4C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8FFC-DA8F-E931-6B6E-773F288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057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9382-50CE-D564-8A8C-E82724DF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3D7B3-44F7-699C-14AA-FDDC730C0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Key Takeaways</a:t>
            </a:r>
          </a:p>
          <a:p>
            <a:r>
              <a:rPr lang="en-GB" sz="2000" dirty="0"/>
              <a:t>Dashboard provides </a:t>
            </a:r>
            <a:r>
              <a:rPr lang="en-GB" sz="2000" b="1" dirty="0"/>
              <a:t>clear visibility into business performance</a:t>
            </a:r>
            <a:endParaRPr lang="en-GB" sz="2000" dirty="0"/>
          </a:p>
          <a:p>
            <a:r>
              <a:rPr lang="en-GB" sz="2000" dirty="0"/>
              <a:t>Helps identify </a:t>
            </a:r>
            <a:r>
              <a:rPr lang="en-GB" sz="2000" b="1" dirty="0"/>
              <a:t>revenue loss due to cancellations</a:t>
            </a:r>
            <a:endParaRPr lang="en-GB" sz="2000" dirty="0"/>
          </a:p>
          <a:p>
            <a:r>
              <a:rPr lang="en-GB" sz="2000" dirty="0"/>
              <a:t>Supports </a:t>
            </a:r>
            <a:r>
              <a:rPr lang="en-GB" sz="2000" b="1" dirty="0"/>
              <a:t>better inventory and sales planning</a:t>
            </a:r>
            <a:endParaRPr lang="en-GB" sz="2000" dirty="0"/>
          </a:p>
          <a:p>
            <a:r>
              <a:rPr lang="en-GB" sz="2000" dirty="0"/>
              <a:t>Designed to be scalable for future enhancements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9353E-6821-DA26-331C-318F10CF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46B0-76C7-3160-DE2D-C96C3B6A7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38B1B-0B34-5CBB-D109-8C1E1901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79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DCC3-D8B8-01EB-2563-4FA39DE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E81943-E120-0DA7-D135-EEDADFD221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1384"/>
            <a:ext cx="601980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(sales forecasting)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Lifetime Value (CLV) calculation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real-time or streaming data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E02E4-B2ED-01AD-ED74-9F3F806A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26-12-2025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9FD1-50A5-56B5-8B06-FED67061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Jibin K B Jibinkbalanand@gmail.com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BDEDD-7B2E-B3F5-9DF6-59C8461B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A19A-CEE0-4188-A6CF-88A0FC797FF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701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E080-0FFB-90ED-D521-49E7D32A3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1A322-726E-86A2-73F3-D6A525D20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32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662</Words>
  <Application>Microsoft Office PowerPoint</Application>
  <PresentationFormat>Widescreen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Sales &amp; Revenue Performance Dashboard</vt:lpstr>
      <vt:lpstr>Contents</vt:lpstr>
      <vt:lpstr>Project Objective</vt:lpstr>
      <vt:lpstr>Dataset Overview</vt:lpstr>
      <vt:lpstr>Data Cleaning &amp; Transformation</vt:lpstr>
      <vt:lpstr>Data Cleaning &amp; Transformation</vt:lpstr>
      <vt:lpstr>Data Model</vt:lpstr>
      <vt:lpstr>Data Model</vt:lpstr>
      <vt:lpstr>Measures Created (DAX)</vt:lpstr>
      <vt:lpstr>Measures Created (DAX)</vt:lpstr>
      <vt:lpstr>Dashboard Overview</vt:lpstr>
      <vt:lpstr>Dashboard Overview</vt:lpstr>
      <vt:lpstr>Key Insights</vt:lpstr>
      <vt:lpstr>Dashboard Features</vt:lpstr>
      <vt:lpstr>Conclusion</vt:lpstr>
      <vt:lpstr>Future Enhancements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Jibin K.B</dc:creator>
  <cp:lastModifiedBy>Jibin K.B</cp:lastModifiedBy>
  <cp:revision>1</cp:revision>
  <dcterms:created xsi:type="dcterms:W3CDTF">2025-12-26T14:33:36Z</dcterms:created>
  <dcterms:modified xsi:type="dcterms:W3CDTF">2025-12-26T17:34:29Z</dcterms:modified>
</cp:coreProperties>
</file>